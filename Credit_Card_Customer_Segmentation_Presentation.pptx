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0"/>
  </p:notesMasterIdLst>
  <p:sldIdLst>
    <p:sldId id="256" r:id="rId2"/>
    <p:sldId id="714" r:id="rId3"/>
    <p:sldId id="715" r:id="rId16"/>
    <p:sldId id="716" r:id="rId17"/>
    <p:sldId id="717" r:id="rId18"/>
    <p:sldId id="718" r:id="rId19"/>
    <p:sldId id="719" r:id="rId20"/>
    <p:sldId id="720" r:id="rId21"/>
    <p:sldId id="721" r:id="rId22"/>
    <p:sldId id="722" r:id="rId23"/>
    <p:sldId id="723" r:id="rId24"/>
    <p:sldId id="724" r:id="rId25"/>
    <p:sldId id="725" r:id="rId26"/>
    <p:sldId id="726" r:id="rId27"/>
    <p:sldId id="727" r:id="rId28"/>
    <p:sldId id="711" r:id="rId8"/>
    <p:sldId id="30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104" d="100"/>
          <a:sy n="104" d="100"/>
        </p:scale>
        <p:origin x="192" y="5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05-07-2026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xml:space="preserve">: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6.png"/><Relationship Id="rId3" Type="http://schemas.openxmlformats.org/officeDocument/2006/relationships/image" Target="../media/image7.png"/></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8.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2.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lstStyle/>
          <a:p>
            <a:r>
              <a:rPr sz="3000" b="1">
                <a:solidFill>
                  <a:srgbClr val="FFFFFF"/>
                </a:solidFill>
                <a:latin typeface="Calibri"/>
              </a:rPr>
              <a:t>Credit Card Customer Segmentation</a:t>
            </a:r>
          </a:p>
          <a:p>
            <a:r>
              <a:rPr sz="1600" b="0">
                <a:solidFill>
                  <a:srgbClr val="CADCFC"/>
                </a:solidFill>
                <a:latin typeface="Calibri"/>
              </a:rPr>
              <a:t>Unsupervised Learning for Targeted Marketing &amp; Risk Assessment</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b="1" sz="3200">
                <a:solidFill>
                  <a:srgbClr val="161A3E"/>
                </a:solidFill>
                <a:latin typeface="Calibri"/>
              </a:rPr>
              <a:t>Agenda</a:t>
            </a: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wrap="square"/>
          <a:lstStyle/>
          <a:p>
            <a:pPr>
              <a:lnSpc>
                <a:spcPct val="115000"/>
              </a:lnSpc>
              <a:spcAft>
                <a:spcPts val="800"/>
              </a:spcAft>
            </a:pPr>
            <a:r>
              <a:rPr sz="1800" b="0">
                <a:solidFill>
                  <a:srgbClr val="222222"/>
                </a:solidFill>
                <a:latin typeface="Calibri"/>
              </a:rPr>
              <a:t>Business Problem &amp; Objective</a:t>
            </a:r>
            <a:endParaRPr lang="en-IN"/>
          </a:p>
          <a:p>
            <a:pPr>
              <a:lnSpc>
                <a:spcPct val="115000"/>
              </a:lnSpc>
              <a:spcAft>
                <a:spcPts val="800"/>
              </a:spcAft>
            </a:pPr>
            <a:r>
              <a:rPr sz="1800" b="0">
                <a:solidFill>
                  <a:srgbClr val="222222"/>
                </a:solidFill>
                <a:latin typeface="Calibri"/>
              </a:rPr>
              <a:t>Dataset Overview</a:t>
            </a:r>
          </a:p>
          <a:p>
            <a:pPr>
              <a:lnSpc>
                <a:spcPct val="115000"/>
              </a:lnSpc>
              <a:spcAft>
                <a:spcPts val="800"/>
              </a:spcAft>
            </a:pPr>
            <a:r>
              <a:rPr sz="1800" b="0">
                <a:solidFill>
                  <a:srgbClr val="222222"/>
                </a:solidFill>
                <a:latin typeface="Calibri"/>
              </a:rPr>
              <a:t>Exploratory Data Analysis</a:t>
            </a:r>
          </a:p>
          <a:p>
            <a:pPr>
              <a:lnSpc>
                <a:spcPct val="115000"/>
              </a:lnSpc>
              <a:spcAft>
                <a:spcPts val="800"/>
              </a:spcAft>
            </a:pPr>
            <a:r>
              <a:rPr sz="1800" b="0">
                <a:solidFill>
                  <a:srgbClr val="222222"/>
                </a:solidFill>
                <a:latin typeface="Calibri"/>
              </a:rPr>
              <a:t>Data Preprocessing &amp; Feature Engineering</a:t>
            </a:r>
          </a:p>
          <a:p>
            <a:pPr>
              <a:lnSpc>
                <a:spcPct val="115000"/>
              </a:lnSpc>
              <a:spcAft>
                <a:spcPts val="800"/>
              </a:spcAft>
            </a:pPr>
            <a:r>
              <a:rPr sz="1800" b="0">
                <a:solidFill>
                  <a:srgbClr val="222222"/>
                </a:solidFill>
                <a:latin typeface="Calibri"/>
              </a:rPr>
              <a:t>Dimensionality Reduction (PCA &amp; t-SNE)</a:t>
            </a:r>
          </a:p>
          <a:p>
            <a:pPr>
              <a:lnSpc>
                <a:spcPct val="115000"/>
              </a:lnSpc>
              <a:spcAft>
                <a:spcPts val="800"/>
              </a:spcAft>
            </a:pPr>
            <a:r>
              <a:rPr sz="1800" b="0">
                <a:solidFill>
                  <a:srgbClr val="222222"/>
                </a:solidFill>
                <a:latin typeface="Calibri"/>
              </a:rPr>
              <a:t>Model Selection — K-Means &amp; Agglomerative Clustering</a:t>
            </a:r>
          </a:p>
          <a:p>
            <a:pPr>
              <a:lnSpc>
                <a:spcPct val="115000"/>
              </a:lnSpc>
              <a:spcAft>
                <a:spcPts val="800"/>
              </a:spcAft>
            </a:pPr>
            <a:r>
              <a:rPr sz="1800" b="0">
                <a:solidFill>
                  <a:srgbClr val="222222"/>
                </a:solidFill>
                <a:latin typeface="Calibri"/>
              </a:rPr>
              <a:t>Comparative Analysis &amp; Model Evaluation</a:t>
            </a:r>
          </a:p>
          <a:p>
            <a:pPr>
              <a:lnSpc>
                <a:spcPct val="115000"/>
              </a:lnSpc>
              <a:spcAft>
                <a:spcPts val="800"/>
              </a:spcAft>
            </a:pPr>
            <a:r>
              <a:rPr sz="1800" b="0">
                <a:solidFill>
                  <a:srgbClr val="222222"/>
                </a:solidFill>
                <a:latin typeface="Calibri"/>
              </a:rPr>
              <a:t>Customer Segment Profiles</a:t>
            </a:r>
          </a:p>
          <a:p>
            <a:pPr>
              <a:lnSpc>
                <a:spcPct val="115000"/>
              </a:lnSpc>
              <a:spcAft>
                <a:spcPts val="800"/>
              </a:spcAft>
            </a:pPr>
            <a:r>
              <a:rPr sz="1800" b="0">
                <a:solidFill>
                  <a:srgbClr val="222222"/>
                </a:solidFill>
                <a:latin typeface="Calibri"/>
              </a:rPr>
              <a:t>Business Recommendations &amp; Conclusion</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Business Problem &amp; Objective</a:t>
            </a:r>
          </a:p>
        </p:txBody>
      </p:sp>
      <p:sp>
        <p:nvSpPr>
          <p:cNvPr id="3" name="TextBox 2"/>
          <p:cNvSpPr txBox="1"/>
          <p:nvPr/>
        </p:nvSpPr>
        <p:spPr>
          <a:xfrm>
            <a:off x="457200" y="1188720"/>
            <a:ext cx="10241280" cy="548640"/>
          </a:xfrm>
          <a:prstGeom prst="rect">
            <a:avLst/>
          </a:prstGeom>
          <a:noFill/>
        </p:spPr>
        <p:txBody>
          <a:bodyPr wrap="square">
            <a:spAutoFit/>
          </a:bodyPr>
          <a:lstStyle/>
          <a:p>
            <a:pPr algn="l">
              <a:lnSpc>
                <a:spcPct val="110000"/>
              </a:lnSpc>
            </a:pPr>
            <a:r>
              <a:rPr sz="1500" b="0" i="1">
                <a:solidFill>
                  <a:srgbClr val="44546A"/>
                </a:solidFill>
                <a:latin typeface="Calibri"/>
              </a:rPr>
              <a:t>Credit card issuers hold rich behavioral data but often market and manage risk uniformly across all customers.</a:t>
            </a:r>
          </a:p>
        </p:txBody>
      </p:sp>
      <p:sp>
        <p:nvSpPr>
          <p:cNvPr id="4" name="Rounded Rectangle 3"/>
          <p:cNvSpPr/>
          <p:nvPr/>
        </p:nvSpPr>
        <p:spPr>
          <a:xfrm>
            <a:off x="457200" y="2011680"/>
            <a:ext cx="3291840" cy="274320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2011680"/>
            <a:ext cx="3291840" cy="109728"/>
          </a:xfrm>
          <a:prstGeom prst="rect">
            <a:avLst/>
          </a:prstGeom>
          <a:solidFill>
            <a:srgbClr val="161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286000"/>
            <a:ext cx="2834640" cy="548640"/>
          </a:xfrm>
          <a:prstGeom prst="rect">
            <a:avLst/>
          </a:prstGeom>
          <a:noFill/>
        </p:spPr>
        <p:txBody>
          <a:bodyPr wrap="square">
            <a:spAutoFit/>
          </a:bodyPr>
          <a:lstStyle/>
          <a:p>
            <a:pPr algn="l">
              <a:lnSpc>
                <a:spcPct val="110000"/>
              </a:lnSpc>
            </a:pPr>
            <a:r>
              <a:rPr sz="1700" b="1" i="0">
                <a:solidFill>
                  <a:srgbClr val="161A3E"/>
                </a:solidFill>
                <a:latin typeface="Calibri"/>
              </a:rPr>
              <a:t>Customer Insights</a:t>
            </a:r>
          </a:p>
        </p:txBody>
      </p:sp>
      <p:sp>
        <p:nvSpPr>
          <p:cNvPr id="7" name="TextBox 6"/>
          <p:cNvSpPr txBox="1"/>
          <p:nvPr/>
        </p:nvSpPr>
        <p:spPr>
          <a:xfrm>
            <a:off x="685800" y="2880360"/>
            <a:ext cx="2834640" cy="1737360"/>
          </a:xfrm>
          <a:prstGeom prst="rect">
            <a:avLst/>
          </a:prstGeom>
          <a:noFill/>
        </p:spPr>
        <p:txBody>
          <a:bodyPr wrap="square">
            <a:spAutoFit/>
          </a:bodyPr>
          <a:lstStyle/>
          <a:p>
            <a:pPr algn="l">
              <a:lnSpc>
                <a:spcPct val="110000"/>
              </a:lnSpc>
            </a:pPr>
            <a:r>
              <a:rPr sz="1300" b="0" i="0">
                <a:solidFill>
                  <a:srgbClr val="333333"/>
                </a:solidFill>
                <a:latin typeface="Calibri"/>
              </a:rPr>
              <a:t>Identify distinct customer segments for personalized product offerings and services.</a:t>
            </a:r>
          </a:p>
        </p:txBody>
      </p:sp>
      <p:sp>
        <p:nvSpPr>
          <p:cNvPr id="8" name="Rounded Rectangle 7"/>
          <p:cNvSpPr/>
          <p:nvPr/>
        </p:nvSpPr>
        <p:spPr>
          <a:xfrm>
            <a:off x="4023360" y="2011680"/>
            <a:ext cx="3291840" cy="274320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23360" y="2011680"/>
            <a:ext cx="3291840" cy="10972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1960" y="2286000"/>
            <a:ext cx="2834640" cy="548640"/>
          </a:xfrm>
          <a:prstGeom prst="rect">
            <a:avLst/>
          </a:prstGeom>
          <a:noFill/>
        </p:spPr>
        <p:txBody>
          <a:bodyPr wrap="square">
            <a:spAutoFit/>
          </a:bodyPr>
          <a:lstStyle/>
          <a:p>
            <a:pPr algn="l">
              <a:lnSpc>
                <a:spcPct val="110000"/>
              </a:lnSpc>
            </a:pPr>
            <a:r>
              <a:rPr sz="1700" b="1" i="0">
                <a:solidFill>
                  <a:srgbClr val="4472C4"/>
                </a:solidFill>
                <a:latin typeface="Calibri"/>
              </a:rPr>
              <a:t>Risk Management</a:t>
            </a:r>
          </a:p>
        </p:txBody>
      </p:sp>
      <p:sp>
        <p:nvSpPr>
          <p:cNvPr id="11" name="TextBox 10"/>
          <p:cNvSpPr txBox="1"/>
          <p:nvPr/>
        </p:nvSpPr>
        <p:spPr>
          <a:xfrm>
            <a:off x="4251960" y="2880360"/>
            <a:ext cx="2834640" cy="1737360"/>
          </a:xfrm>
          <a:prstGeom prst="rect">
            <a:avLst/>
          </a:prstGeom>
          <a:noFill/>
        </p:spPr>
        <p:txBody>
          <a:bodyPr wrap="square">
            <a:spAutoFit/>
          </a:bodyPr>
          <a:lstStyle/>
          <a:p>
            <a:pPr algn="l">
              <a:lnSpc>
                <a:spcPct val="110000"/>
              </a:lnSpc>
            </a:pPr>
            <a:r>
              <a:rPr sz="1300" b="0" i="0">
                <a:solidFill>
                  <a:srgbClr val="333333"/>
                </a:solidFill>
                <a:latin typeface="Calibri"/>
              </a:rPr>
              <a:t>Understand spending &amp; repayment patterns to strengthen credit risk assessment and fraud detection.</a:t>
            </a:r>
          </a:p>
        </p:txBody>
      </p:sp>
      <p:sp>
        <p:nvSpPr>
          <p:cNvPr id="12" name="Rounded Rectangle 11"/>
          <p:cNvSpPr/>
          <p:nvPr/>
        </p:nvSpPr>
        <p:spPr>
          <a:xfrm>
            <a:off x="7589520" y="2011680"/>
            <a:ext cx="3291840" cy="274320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2011680"/>
            <a:ext cx="3291840" cy="109728"/>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2286000"/>
            <a:ext cx="2834640" cy="548640"/>
          </a:xfrm>
          <a:prstGeom prst="rect">
            <a:avLst/>
          </a:prstGeom>
          <a:noFill/>
        </p:spPr>
        <p:txBody>
          <a:bodyPr wrap="square">
            <a:spAutoFit/>
          </a:bodyPr>
          <a:lstStyle/>
          <a:p>
            <a:pPr algn="l">
              <a:lnSpc>
                <a:spcPct val="110000"/>
              </a:lnSpc>
            </a:pPr>
            <a:r>
              <a:rPr sz="1700" b="1" i="0">
                <a:solidFill>
                  <a:srgbClr val="ED7D31"/>
                </a:solidFill>
                <a:latin typeface="Calibri"/>
              </a:rPr>
              <a:t>Marketing Optimization</a:t>
            </a:r>
          </a:p>
        </p:txBody>
      </p:sp>
      <p:sp>
        <p:nvSpPr>
          <p:cNvPr id="15" name="TextBox 14"/>
          <p:cNvSpPr txBox="1"/>
          <p:nvPr/>
        </p:nvSpPr>
        <p:spPr>
          <a:xfrm>
            <a:off x="7818120" y="2880360"/>
            <a:ext cx="2834640" cy="1737360"/>
          </a:xfrm>
          <a:prstGeom prst="rect">
            <a:avLst/>
          </a:prstGeom>
          <a:noFill/>
        </p:spPr>
        <p:txBody>
          <a:bodyPr wrap="square">
            <a:spAutoFit/>
          </a:bodyPr>
          <a:lstStyle/>
          <a:p>
            <a:pPr algn="l">
              <a:lnSpc>
                <a:spcPct val="110000"/>
              </a:lnSpc>
            </a:pPr>
            <a:r>
              <a:rPr sz="1300" b="0" i="0">
                <a:solidFill>
                  <a:srgbClr val="333333"/>
                </a:solidFill>
                <a:latin typeface="Calibri"/>
              </a:rPr>
              <a:t>Use behavioral segments to guide sharper, more effective targeted marketing campaigns.</a:t>
            </a:r>
          </a:p>
        </p:txBody>
      </p:sp>
      <p:sp>
        <p:nvSpPr>
          <p:cNvPr id="16" name="TextBox 15"/>
          <p:cNvSpPr txBox="1"/>
          <p:nvPr/>
        </p:nvSpPr>
        <p:spPr>
          <a:xfrm>
            <a:off x="457200" y="5029200"/>
            <a:ext cx="10241280" cy="914400"/>
          </a:xfrm>
          <a:prstGeom prst="rect">
            <a:avLst/>
          </a:prstGeom>
          <a:noFill/>
        </p:spPr>
        <p:txBody>
          <a:bodyPr wrap="square">
            <a:spAutoFit/>
          </a:bodyPr>
          <a:lstStyle/>
          <a:p>
            <a:pPr algn="l">
              <a:lnSpc>
                <a:spcPct val="110000"/>
              </a:lnSpc>
            </a:pPr>
            <a:r>
              <a:rPr sz="1400" b="1" i="0">
                <a:solidFill>
                  <a:srgbClr val="161A3E"/>
                </a:solidFill>
                <a:latin typeface="Calibri"/>
              </a:rPr>
              <a:t>Objective: Build unsupervised learning models that segment credit card customers by spending and payment behavior — producing segmentation models, data visualizations, and a comparative algorithm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Dataset Overview</a:t>
            </a:r>
          </a:p>
        </p:txBody>
      </p:sp>
      <p:sp>
        <p:nvSpPr>
          <p:cNvPr id="3" name="Content Placeholder 2"/>
          <p:cNvSpPr>
            <a:spLocks noGrp="1"/>
          </p:cNvSpPr>
          <p:nvPr>
            <p:ph idx="1" sz="half"/>
          </p:nvPr>
        </p:nvSpPr>
        <p:spPr/>
        <p:txBody>
          <a:bodyPr wrap="square"/>
          <a:lstStyle/>
          <a:p>
            <a:pPr>
              <a:lnSpc>
                <a:spcPct val="115000"/>
              </a:lnSpc>
              <a:spcAft>
                <a:spcPts val="800"/>
              </a:spcAft>
            </a:pPr>
            <a:r>
              <a:rPr sz="1500" b="1">
                <a:solidFill>
                  <a:srgbClr val="333333"/>
                </a:solidFill>
                <a:latin typeface="Calibri"/>
              </a:rPr>
              <a:t>8,950 customers x 17 features</a:t>
            </a:r>
          </a:p>
          <a:p>
            <a:pPr>
              <a:lnSpc>
                <a:spcPct val="115000"/>
              </a:lnSpc>
              <a:spcAft>
                <a:spcPts val="800"/>
              </a:spcAft>
            </a:pPr>
            <a:r>
              <a:rPr sz="1500" b="0">
                <a:solidFill>
                  <a:srgbClr val="333333"/>
                </a:solidFill>
                <a:latin typeface="Calibri"/>
              </a:rPr>
              <a:t>Behavioral &amp; financial variables per customer:</a:t>
            </a:r>
          </a:p>
          <a:p>
            <a:pPr lvl="1">
              <a:lnSpc>
                <a:spcPct val="115000"/>
              </a:lnSpc>
              <a:spcAft>
                <a:spcPts val="800"/>
              </a:spcAft>
            </a:pPr>
            <a:r>
              <a:rPr sz="1300" b="0">
                <a:solidFill>
                  <a:srgbClr val="333333"/>
                </a:solidFill>
                <a:latin typeface="Calibri"/>
              </a:rPr>
              <a:t>Balance, purchases (one-off / installment)</a:t>
            </a:r>
          </a:p>
          <a:p>
            <a:pPr lvl="1">
              <a:lnSpc>
                <a:spcPct val="115000"/>
              </a:lnSpc>
              <a:spcAft>
                <a:spcPts val="800"/>
              </a:spcAft>
            </a:pPr>
            <a:r>
              <a:rPr sz="1300" b="0">
                <a:solidFill>
                  <a:srgbClr val="333333"/>
                </a:solidFill>
                <a:latin typeface="Calibri"/>
              </a:rPr>
              <a:t>Cash advance amount &amp; frequency</a:t>
            </a:r>
          </a:p>
          <a:p>
            <a:pPr lvl="1">
              <a:lnSpc>
                <a:spcPct val="115000"/>
              </a:lnSpc>
              <a:spcAft>
                <a:spcPts val="800"/>
              </a:spcAft>
            </a:pPr>
            <a:r>
              <a:rPr sz="1300" b="0">
                <a:solidFill>
                  <a:srgbClr val="333333"/>
                </a:solidFill>
                <a:latin typeface="Calibri"/>
              </a:rPr>
              <a:t>Credit limit, payments, minimum payments</a:t>
            </a:r>
          </a:p>
          <a:p>
            <a:pPr lvl="1">
              <a:lnSpc>
                <a:spcPct val="115000"/>
              </a:lnSpc>
              <a:spcAft>
                <a:spcPts val="800"/>
              </a:spcAft>
            </a:pPr>
            <a:r>
              <a:rPr sz="1300" b="0">
                <a:solidFill>
                  <a:srgbClr val="333333"/>
                </a:solidFill>
                <a:latin typeface="Calibri"/>
              </a:rPr>
              <a:t>Tenure (months as a cardholder)</a:t>
            </a:r>
          </a:p>
          <a:p>
            <a:pPr>
              <a:lnSpc>
                <a:spcPct val="115000"/>
              </a:lnSpc>
              <a:spcAft>
                <a:spcPts val="800"/>
              </a:spcAft>
            </a:pPr>
            <a:r>
              <a:rPr sz="1500" b="1">
                <a:solidFill>
                  <a:srgbClr val="333333"/>
                </a:solidFill>
                <a:latin typeface="Calibri"/>
              </a:rPr>
              <a:t>Missing values:</a:t>
            </a:r>
          </a:p>
          <a:p>
            <a:pPr lvl="1">
              <a:lnSpc>
                <a:spcPct val="115000"/>
              </a:lnSpc>
              <a:spcAft>
                <a:spcPts val="800"/>
              </a:spcAft>
            </a:pPr>
            <a:r>
              <a:rPr sz="1300" b="0">
                <a:solidFill>
                  <a:srgbClr val="333333"/>
                </a:solidFill>
                <a:latin typeface="Calibri"/>
              </a:rPr>
              <a:t>CREDIT_LIMIT — 1 record</a:t>
            </a:r>
          </a:p>
          <a:p>
            <a:pPr lvl="1">
              <a:lnSpc>
                <a:spcPct val="115000"/>
              </a:lnSpc>
              <a:spcAft>
                <a:spcPts val="800"/>
              </a:spcAft>
            </a:pPr>
            <a:r>
              <a:rPr sz="1300" b="0">
                <a:solidFill>
                  <a:srgbClr val="333333"/>
                </a:solidFill>
                <a:latin typeface="Calibri"/>
              </a:rPr>
              <a:t>MINIMUM_PAYMENTS — 313 records (3.5%)</a:t>
            </a:r>
          </a:p>
        </p:txBody>
      </p:sp>
      <p:sp>
        <p:nvSpPr>
          <p:cNvPr id="4" name="Content Placeholder 3"/>
          <p:cNvSpPr>
            <a:spLocks noGrp="1"/>
          </p:cNvSpPr>
          <p:nvPr>
            <p:ph idx="2" sz="half"/>
          </p:nvPr>
        </p:nvSpPr>
        <p:spPr/>
        <p:txBody>
          <a:bodyPr/>
          <a:lstStyle/>
          <a:p/>
        </p:txBody>
      </p:sp>
      <p:sp>
        <p:nvSpPr>
          <p:cNvPr id="5" name="Rounded Rectangle 4"/>
          <p:cNvSpPr/>
          <p:nvPr/>
        </p:nvSpPr>
        <p:spPr>
          <a:xfrm>
            <a:off x="6172199" y="1659835"/>
            <a:ext cx="5340917" cy="91440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5079" y="1732987"/>
            <a:ext cx="1463040" cy="768096"/>
          </a:xfrm>
          <a:prstGeom prst="rect">
            <a:avLst/>
          </a:prstGeom>
          <a:noFill/>
        </p:spPr>
        <p:txBody>
          <a:bodyPr wrap="square">
            <a:spAutoFit/>
          </a:bodyPr>
          <a:lstStyle/>
          <a:p>
            <a:pPr algn="ctr">
              <a:lnSpc>
                <a:spcPct val="110000"/>
              </a:lnSpc>
            </a:pPr>
            <a:r>
              <a:rPr sz="2600" b="1" i="0">
                <a:solidFill>
                  <a:srgbClr val="161A3E"/>
                </a:solidFill>
                <a:latin typeface="Calibri"/>
              </a:rPr>
              <a:t>8,950</a:t>
            </a:r>
          </a:p>
        </p:txBody>
      </p:sp>
      <p:sp>
        <p:nvSpPr>
          <p:cNvPr id="7" name="TextBox 6"/>
          <p:cNvSpPr txBox="1"/>
          <p:nvPr/>
        </p:nvSpPr>
        <p:spPr>
          <a:xfrm>
            <a:off x="7818119" y="1915867"/>
            <a:ext cx="3512117" cy="457200"/>
          </a:xfrm>
          <a:prstGeom prst="rect">
            <a:avLst/>
          </a:prstGeom>
          <a:noFill/>
        </p:spPr>
        <p:txBody>
          <a:bodyPr wrap="square">
            <a:spAutoFit/>
          </a:bodyPr>
          <a:lstStyle/>
          <a:p>
            <a:pPr algn="l">
              <a:lnSpc>
                <a:spcPct val="110000"/>
              </a:lnSpc>
            </a:pPr>
            <a:r>
              <a:rPr sz="1300" b="0" i="0">
                <a:solidFill>
                  <a:srgbClr val="333333"/>
                </a:solidFill>
                <a:latin typeface="Calibri"/>
              </a:rPr>
              <a:t>Customers</a:t>
            </a:r>
          </a:p>
        </p:txBody>
      </p:sp>
      <p:sp>
        <p:nvSpPr>
          <p:cNvPr id="8" name="Rounded Rectangle 7"/>
          <p:cNvSpPr/>
          <p:nvPr/>
        </p:nvSpPr>
        <p:spPr>
          <a:xfrm>
            <a:off x="6172199" y="2711395"/>
            <a:ext cx="5340917" cy="91440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2784547"/>
            <a:ext cx="1463040" cy="768096"/>
          </a:xfrm>
          <a:prstGeom prst="rect">
            <a:avLst/>
          </a:prstGeom>
          <a:noFill/>
        </p:spPr>
        <p:txBody>
          <a:bodyPr wrap="square">
            <a:spAutoFit/>
          </a:bodyPr>
          <a:lstStyle/>
          <a:p>
            <a:pPr algn="ctr">
              <a:lnSpc>
                <a:spcPct val="110000"/>
              </a:lnSpc>
            </a:pPr>
            <a:r>
              <a:rPr sz="2600" b="1" i="0">
                <a:solidFill>
                  <a:srgbClr val="161A3E"/>
                </a:solidFill>
                <a:latin typeface="Calibri"/>
              </a:rPr>
              <a:t>17</a:t>
            </a:r>
          </a:p>
        </p:txBody>
      </p:sp>
      <p:sp>
        <p:nvSpPr>
          <p:cNvPr id="10" name="TextBox 9"/>
          <p:cNvSpPr txBox="1"/>
          <p:nvPr/>
        </p:nvSpPr>
        <p:spPr>
          <a:xfrm>
            <a:off x="7818119" y="2967427"/>
            <a:ext cx="3512117" cy="457200"/>
          </a:xfrm>
          <a:prstGeom prst="rect">
            <a:avLst/>
          </a:prstGeom>
          <a:noFill/>
        </p:spPr>
        <p:txBody>
          <a:bodyPr wrap="square">
            <a:spAutoFit/>
          </a:bodyPr>
          <a:lstStyle/>
          <a:p>
            <a:pPr algn="l">
              <a:lnSpc>
                <a:spcPct val="110000"/>
              </a:lnSpc>
            </a:pPr>
            <a:r>
              <a:rPr sz="1300" b="0" i="0">
                <a:solidFill>
                  <a:srgbClr val="333333"/>
                </a:solidFill>
                <a:latin typeface="Calibri"/>
              </a:rPr>
              <a:t>Raw Features</a:t>
            </a:r>
          </a:p>
        </p:txBody>
      </p:sp>
      <p:sp>
        <p:nvSpPr>
          <p:cNvPr id="11" name="Rounded Rectangle 10"/>
          <p:cNvSpPr/>
          <p:nvPr/>
        </p:nvSpPr>
        <p:spPr>
          <a:xfrm>
            <a:off x="6172199" y="3762955"/>
            <a:ext cx="5340917" cy="91440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79" y="3836107"/>
            <a:ext cx="1463040" cy="768096"/>
          </a:xfrm>
          <a:prstGeom prst="rect">
            <a:avLst/>
          </a:prstGeom>
          <a:noFill/>
        </p:spPr>
        <p:txBody>
          <a:bodyPr wrap="square">
            <a:spAutoFit/>
          </a:bodyPr>
          <a:lstStyle/>
          <a:p>
            <a:pPr algn="ctr">
              <a:lnSpc>
                <a:spcPct val="110000"/>
              </a:lnSpc>
            </a:pPr>
            <a:r>
              <a:rPr sz="2600" b="1" i="0">
                <a:solidFill>
                  <a:srgbClr val="161A3E"/>
                </a:solidFill>
                <a:latin typeface="Calibri"/>
              </a:rPr>
              <a:t>22</a:t>
            </a:r>
          </a:p>
        </p:txBody>
      </p:sp>
      <p:sp>
        <p:nvSpPr>
          <p:cNvPr id="13" name="TextBox 12"/>
          <p:cNvSpPr txBox="1"/>
          <p:nvPr/>
        </p:nvSpPr>
        <p:spPr>
          <a:xfrm>
            <a:off x="7818119" y="4018987"/>
            <a:ext cx="3512117" cy="457200"/>
          </a:xfrm>
          <a:prstGeom prst="rect">
            <a:avLst/>
          </a:prstGeom>
          <a:noFill/>
        </p:spPr>
        <p:txBody>
          <a:bodyPr wrap="square">
            <a:spAutoFit/>
          </a:bodyPr>
          <a:lstStyle/>
          <a:p>
            <a:pPr algn="l">
              <a:lnSpc>
                <a:spcPct val="110000"/>
              </a:lnSpc>
            </a:pPr>
            <a:r>
              <a:rPr sz="1300" b="0" i="0">
                <a:solidFill>
                  <a:srgbClr val="333333"/>
                </a:solidFill>
                <a:latin typeface="Calibri"/>
              </a:rPr>
              <a:t>Features After Engineering</a:t>
            </a:r>
          </a:p>
        </p:txBody>
      </p:sp>
      <p:sp>
        <p:nvSpPr>
          <p:cNvPr id="14" name="Rounded Rectangle 13"/>
          <p:cNvSpPr/>
          <p:nvPr/>
        </p:nvSpPr>
        <p:spPr>
          <a:xfrm>
            <a:off x="6172199" y="4814515"/>
            <a:ext cx="5340917" cy="91440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79" y="4887667"/>
            <a:ext cx="1463040" cy="768096"/>
          </a:xfrm>
          <a:prstGeom prst="rect">
            <a:avLst/>
          </a:prstGeom>
          <a:noFill/>
        </p:spPr>
        <p:txBody>
          <a:bodyPr wrap="square">
            <a:spAutoFit/>
          </a:bodyPr>
          <a:lstStyle/>
          <a:p>
            <a:pPr algn="ctr">
              <a:lnSpc>
                <a:spcPct val="110000"/>
              </a:lnSpc>
            </a:pPr>
            <a:r>
              <a:rPr sz="2600" b="1" i="0">
                <a:solidFill>
                  <a:srgbClr val="161A3E"/>
                </a:solidFill>
                <a:latin typeface="Calibri"/>
              </a:rPr>
              <a:t>12 mo</a:t>
            </a:r>
          </a:p>
        </p:txBody>
      </p:sp>
      <p:sp>
        <p:nvSpPr>
          <p:cNvPr id="16" name="TextBox 15"/>
          <p:cNvSpPr txBox="1"/>
          <p:nvPr/>
        </p:nvSpPr>
        <p:spPr>
          <a:xfrm>
            <a:off x="7818119" y="5070547"/>
            <a:ext cx="3512117" cy="457200"/>
          </a:xfrm>
          <a:prstGeom prst="rect">
            <a:avLst/>
          </a:prstGeom>
          <a:noFill/>
        </p:spPr>
        <p:txBody>
          <a:bodyPr wrap="square">
            <a:spAutoFit/>
          </a:bodyPr>
          <a:lstStyle/>
          <a:p>
            <a:pPr algn="l">
              <a:lnSpc>
                <a:spcPct val="110000"/>
              </a:lnSpc>
            </a:pPr>
            <a:r>
              <a:rPr sz="1300" b="0" i="0">
                <a:solidFill>
                  <a:srgbClr val="333333"/>
                </a:solidFill>
                <a:latin typeface="Calibri"/>
              </a:rPr>
              <a:t>Median Tenure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Exploratory Data Analysis — Feature Distributions</a:t>
            </a:r>
          </a:p>
        </p:txBody>
      </p:sp>
      <p:pic>
        <p:nvPicPr>
          <p:cNvPr id="3" name="Picture 2" descr="eda_distributions.png"/>
          <p:cNvPicPr>
            <a:picLocks noChangeAspect="1"/>
          </p:cNvPicPr>
          <p:nvPr/>
        </p:nvPicPr>
        <p:blipFill>
          <a:blip r:embed="rId2"/>
          <a:stretch>
            <a:fillRect/>
          </a:stretch>
        </p:blipFill>
        <p:spPr>
          <a:xfrm>
            <a:off x="1697427" y="1143000"/>
            <a:ext cx="7760825" cy="4114800"/>
          </a:xfrm>
          <a:prstGeom prst="rect">
            <a:avLst/>
          </a:prstGeom>
        </p:spPr>
      </p:pic>
      <p:sp>
        <p:nvSpPr>
          <p:cNvPr id="4" name="TextBox 3"/>
          <p:cNvSpPr txBox="1"/>
          <p:nvPr/>
        </p:nvSpPr>
        <p:spPr>
          <a:xfrm>
            <a:off x="457200" y="5486400"/>
            <a:ext cx="10241280" cy="731520"/>
          </a:xfrm>
          <a:prstGeom prst="rect">
            <a:avLst/>
          </a:prstGeom>
          <a:noFill/>
        </p:spPr>
        <p:txBody>
          <a:bodyPr wrap="square">
            <a:spAutoFit/>
          </a:bodyPr>
          <a:lstStyle/>
          <a:p>
            <a:pPr algn="l">
              <a:lnSpc>
                <a:spcPct val="110000"/>
              </a:lnSpc>
            </a:pPr>
            <a:r>
              <a:rPr sz="1300" b="0" i="1">
                <a:solidFill>
                  <a:srgbClr val="44546A"/>
                </a:solidFill>
                <a:latin typeface="Calibri"/>
              </a:rPr>
              <a:t>Monetary features (balance, purchases, cash advance, payments) are heavily right-skewed — a small share of customers drive very high values. Tenure is concentrated at 12 months.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Correlation Structure &amp; Outliers</a:t>
            </a:r>
          </a:p>
        </p:txBody>
      </p:sp>
      <p:sp>
        <p:nvSpPr>
          <p:cNvPr id="3" name="Content Placeholder 2"/>
          <p:cNvSpPr>
            <a:spLocks noGrp="1"/>
          </p:cNvSpPr>
          <p:nvPr>
            <p:ph idx="1" sz="half"/>
          </p:nvPr>
        </p:nvSpPr>
        <p:spPr/>
        <p:txBody>
          <a:bodyPr/>
          <a:lstStyle/>
          <a:p/>
        </p:txBody>
      </p:sp>
      <p:sp>
        <p:nvSpPr>
          <p:cNvPr id="4" name="Content Placeholder 3"/>
          <p:cNvSpPr>
            <a:spLocks noGrp="1"/>
          </p:cNvSpPr>
          <p:nvPr>
            <p:ph idx="2" sz="half"/>
          </p:nvPr>
        </p:nvSpPr>
        <p:spPr/>
        <p:txBody>
          <a:bodyPr/>
          <a:lstStyle/>
          <a:p/>
        </p:txBody>
      </p:sp>
      <p:pic>
        <p:nvPicPr>
          <p:cNvPr id="5" name="Picture 4" descr="eda_correlation.png"/>
          <p:cNvPicPr>
            <a:picLocks noChangeAspect="1"/>
          </p:cNvPicPr>
          <p:nvPr/>
        </p:nvPicPr>
        <p:blipFill>
          <a:blip r:embed="rId2"/>
          <a:stretch>
            <a:fillRect/>
          </a:stretch>
        </p:blipFill>
        <p:spPr>
          <a:xfrm>
            <a:off x="826131" y="1659835"/>
            <a:ext cx="5046418" cy="4399442"/>
          </a:xfrm>
          <a:prstGeom prst="rect">
            <a:avLst/>
          </a:prstGeom>
        </p:spPr>
      </p:pic>
      <p:pic>
        <p:nvPicPr>
          <p:cNvPr id="6" name="Picture 5" descr="eda_boxplots.png"/>
          <p:cNvPicPr>
            <a:picLocks noChangeAspect="1"/>
          </p:cNvPicPr>
          <p:nvPr/>
        </p:nvPicPr>
        <p:blipFill>
          <a:blip r:embed="rId3"/>
          <a:stretch>
            <a:fillRect/>
          </a:stretch>
        </p:blipFill>
        <p:spPr>
          <a:xfrm>
            <a:off x="6172199" y="1659835"/>
            <a:ext cx="5340917" cy="1753150"/>
          </a:xfrm>
          <a:prstGeom prst="rect">
            <a:avLst/>
          </a:prstGeom>
        </p:spPr>
      </p:pic>
      <p:sp>
        <p:nvSpPr>
          <p:cNvPr id="7" name="TextBox 6"/>
          <p:cNvSpPr txBox="1"/>
          <p:nvPr/>
        </p:nvSpPr>
        <p:spPr>
          <a:xfrm>
            <a:off x="6172199" y="4299500"/>
            <a:ext cx="5340917" cy="1759776"/>
          </a:xfrm>
          <a:prstGeom prst="rect">
            <a:avLst/>
          </a:prstGeom>
          <a:noFill/>
        </p:spPr>
        <p:txBody>
          <a:bodyPr wrap="square">
            <a:spAutoFit/>
          </a:bodyPr>
          <a:lstStyle/>
          <a:p>
            <a:pPr algn="l">
              <a:lnSpc>
                <a:spcPct val="110000"/>
              </a:lnSpc>
            </a:pPr>
            <a:r>
              <a:rPr sz="1250" b="0" i="0">
                <a:solidFill>
                  <a:srgbClr val="333333"/>
                </a:solidFill>
                <a:latin typeface="Calibri"/>
              </a:rPr>
              <a:t>Purchases, balance, and one-off purchases are strongly inter-correlated and show substantial high-end outliers — motivating PCA and outlier capping.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Data Preprocessing &amp; Feature Engineering</a:t>
            </a:r>
          </a:p>
        </p:txBody>
      </p:sp>
      <p:sp>
        <p:nvSpPr>
          <p:cNvPr id="3" name="Content Placeholder 2"/>
          <p:cNvSpPr>
            <a:spLocks noGrp="1"/>
          </p:cNvSpPr>
          <p:nvPr>
            <p:ph idx="1"/>
          </p:nvPr>
        </p:nvSpPr>
        <p:spPr/>
        <p:txBody>
          <a:bodyPr wrap="square"/>
          <a:lstStyle/>
          <a:p>
            <a:pPr>
              <a:lnSpc>
                <a:spcPct val="115000"/>
              </a:lnSpc>
              <a:spcAft>
                <a:spcPts val="800"/>
              </a:spcAft>
            </a:pPr>
            <a:r>
              <a:rPr sz="1500" b="1">
                <a:solidFill>
                  <a:srgbClr val="333333"/>
                </a:solidFill>
                <a:latin typeface="Calibri"/>
              </a:rPr>
              <a:t>Missing Value Imputation</a:t>
            </a:r>
          </a:p>
          <a:p>
            <a:pPr lvl="1">
              <a:lnSpc>
                <a:spcPct val="115000"/>
              </a:lnSpc>
              <a:spcAft>
                <a:spcPts val="800"/>
              </a:spcAft>
            </a:pPr>
            <a:r>
              <a:rPr sz="1300" b="0">
                <a:solidFill>
                  <a:srgbClr val="333333"/>
                </a:solidFill>
                <a:latin typeface="Calibri"/>
              </a:rPr>
              <a:t>Median imputation for CREDIT_LIMIT and MINIMUM_PAYMENTS</a:t>
            </a:r>
          </a:p>
          <a:p>
            <a:pPr>
              <a:lnSpc>
                <a:spcPct val="115000"/>
              </a:lnSpc>
              <a:spcAft>
                <a:spcPts val="800"/>
              </a:spcAft>
            </a:pPr>
            <a:r>
              <a:rPr sz="1500" b="1">
                <a:solidFill>
                  <a:srgbClr val="333333"/>
                </a:solidFill>
                <a:latin typeface="Calibri"/>
              </a:rPr>
              <a:t>Feature Engineering — 5 new behavioral ratios</a:t>
            </a:r>
          </a:p>
          <a:p>
            <a:pPr lvl="1">
              <a:lnSpc>
                <a:spcPct val="115000"/>
              </a:lnSpc>
              <a:spcAft>
                <a:spcPts val="800"/>
              </a:spcAft>
            </a:pPr>
            <a:r>
              <a:rPr sz="1300" b="0">
                <a:solidFill>
                  <a:srgbClr val="333333"/>
                </a:solidFill>
                <a:latin typeface="Calibri"/>
              </a:rPr>
              <a:t>Monthly average purchase &amp; cash advance (normalized by tenure)</a:t>
            </a:r>
          </a:p>
          <a:p>
            <a:pPr lvl="1">
              <a:lnSpc>
                <a:spcPct val="115000"/>
              </a:lnSpc>
              <a:spcAft>
                <a:spcPts val="800"/>
              </a:spcAft>
            </a:pPr>
            <a:r>
              <a:rPr sz="1300" b="0">
                <a:solidFill>
                  <a:srgbClr val="333333"/>
                </a:solidFill>
                <a:latin typeface="Calibri"/>
              </a:rPr>
              <a:t>Credit limit utilization ratio (balance / credit limit)</a:t>
            </a:r>
          </a:p>
          <a:p>
            <a:pPr lvl="1">
              <a:lnSpc>
                <a:spcPct val="115000"/>
              </a:lnSpc>
              <a:spcAft>
                <a:spcPts val="800"/>
              </a:spcAft>
            </a:pPr>
            <a:r>
              <a:rPr sz="1300" b="0">
                <a:solidFill>
                  <a:srgbClr val="333333"/>
                </a:solidFill>
                <a:latin typeface="Calibri"/>
              </a:rPr>
              <a:t>Payment-to-minimum-payment ratio (repayment strength)</a:t>
            </a:r>
          </a:p>
          <a:p>
            <a:pPr lvl="1">
              <a:lnSpc>
                <a:spcPct val="115000"/>
              </a:lnSpc>
              <a:spcAft>
                <a:spcPts val="800"/>
              </a:spcAft>
            </a:pPr>
            <a:r>
              <a:rPr sz="1300" b="0">
                <a:solidFill>
                  <a:srgbClr val="333333"/>
                </a:solidFill>
                <a:latin typeface="Calibri"/>
              </a:rPr>
              <a:t>One-off vs. installment purchase ratio (purchase style)</a:t>
            </a:r>
          </a:p>
          <a:p>
            <a:pPr>
              <a:lnSpc>
                <a:spcPct val="115000"/>
              </a:lnSpc>
              <a:spcAft>
                <a:spcPts val="800"/>
              </a:spcAft>
            </a:pPr>
            <a:r>
              <a:rPr sz="1500" b="1">
                <a:solidFill>
                  <a:srgbClr val="333333"/>
                </a:solidFill>
                <a:latin typeface="Calibri"/>
              </a:rPr>
              <a:t>Outlier Handling &amp; Scaling</a:t>
            </a:r>
          </a:p>
          <a:p>
            <a:pPr lvl="1">
              <a:lnSpc>
                <a:spcPct val="115000"/>
              </a:lnSpc>
              <a:spcAft>
                <a:spcPts val="800"/>
              </a:spcAft>
            </a:pPr>
            <a:r>
              <a:rPr sz="1300" b="0">
                <a:solidFill>
                  <a:srgbClr val="333333"/>
                </a:solidFill>
                <a:latin typeface="Calibri"/>
              </a:rPr>
              <a:t>Capped extreme values at the 99th percentile</a:t>
            </a:r>
          </a:p>
          <a:p>
            <a:pPr lvl="1">
              <a:lnSpc>
                <a:spcPct val="115000"/>
              </a:lnSpc>
              <a:spcAft>
                <a:spcPts val="800"/>
              </a:spcAft>
            </a:pPr>
            <a:r>
              <a:rPr sz="1300" b="0">
                <a:solidFill>
                  <a:srgbClr val="333333"/>
                </a:solidFill>
                <a:latin typeface="Calibri"/>
              </a:rPr>
              <a:t>Log-transformed skewed monetary columns</a:t>
            </a:r>
          </a:p>
          <a:p>
            <a:pPr lvl="1">
              <a:lnSpc>
                <a:spcPct val="115000"/>
              </a:lnSpc>
              <a:spcAft>
                <a:spcPts val="800"/>
              </a:spcAft>
            </a:pPr>
            <a:r>
              <a:rPr sz="1300" b="0">
                <a:solidFill>
                  <a:srgbClr val="333333"/>
                </a:solidFill>
                <a:latin typeface="Calibri"/>
              </a:rPr>
              <a:t>Standardized (z-score) all 22 features before modeling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Dimensionality Reduction — PCA &amp; t-SNE</a:t>
            </a:r>
          </a:p>
        </p:txBody>
      </p:sp>
      <p:sp>
        <p:nvSpPr>
          <p:cNvPr id="3" name="Content Placeholder 2"/>
          <p:cNvSpPr>
            <a:spLocks noGrp="1"/>
          </p:cNvSpPr>
          <p:nvPr>
            <p:ph idx="1" sz="half"/>
          </p:nvPr>
        </p:nvSpPr>
        <p:spPr/>
        <p:txBody>
          <a:bodyPr/>
          <a:lstStyle/>
          <a:p/>
        </p:txBody>
      </p:sp>
      <p:sp>
        <p:nvSpPr>
          <p:cNvPr id="4" name="Content Placeholder 3"/>
          <p:cNvSpPr>
            <a:spLocks noGrp="1"/>
          </p:cNvSpPr>
          <p:nvPr>
            <p:ph idx="2" sz="half"/>
          </p:nvPr>
        </p:nvSpPr>
        <p:spPr/>
        <p:txBody>
          <a:bodyPr/>
          <a:lstStyle/>
          <a:p/>
        </p:txBody>
      </p:sp>
      <p:pic>
        <p:nvPicPr>
          <p:cNvPr id="5" name="Picture 4" descr="pca_variance.png"/>
          <p:cNvPicPr>
            <a:picLocks noChangeAspect="1"/>
          </p:cNvPicPr>
          <p:nvPr/>
        </p:nvPicPr>
        <p:blipFill>
          <a:blip r:embed="rId2"/>
          <a:stretch>
            <a:fillRect/>
          </a:stretch>
        </p:blipFill>
        <p:spPr>
          <a:xfrm>
            <a:off x="678881" y="2204363"/>
            <a:ext cx="5340919" cy="3310385"/>
          </a:xfrm>
          <a:prstGeom prst="rect">
            <a:avLst/>
          </a:prstGeom>
        </p:spPr>
      </p:pic>
      <p:sp>
        <p:nvSpPr>
          <p:cNvPr id="6" name="TextBox 5"/>
          <p:cNvSpPr txBox="1"/>
          <p:nvPr/>
        </p:nvSpPr>
        <p:spPr>
          <a:xfrm>
            <a:off x="6172199" y="1659835"/>
            <a:ext cx="5340917" cy="457200"/>
          </a:xfrm>
          <a:prstGeom prst="rect">
            <a:avLst/>
          </a:prstGeom>
          <a:noFill/>
        </p:spPr>
        <p:txBody>
          <a:bodyPr wrap="square">
            <a:spAutoFit/>
          </a:bodyPr>
          <a:lstStyle/>
          <a:p>
            <a:pPr algn="l">
              <a:lnSpc>
                <a:spcPct val="110000"/>
              </a:lnSpc>
            </a:pPr>
            <a:r>
              <a:rPr sz="1600" b="1" i="0">
                <a:solidFill>
                  <a:srgbClr val="161A3E"/>
                </a:solidFill>
                <a:latin typeface="Calibri"/>
              </a:rPr>
              <a:t>Why reduce dimensions?</a:t>
            </a:r>
          </a:p>
        </p:txBody>
      </p:sp>
      <p:sp>
        <p:nvSpPr>
          <p:cNvPr id="7" name="TextBox 6"/>
          <p:cNvSpPr txBox="1"/>
          <p:nvPr/>
        </p:nvSpPr>
        <p:spPr>
          <a:xfrm>
            <a:off x="6172199" y="2162755"/>
            <a:ext cx="5340917" cy="3850802"/>
          </a:xfrm>
          <a:prstGeom prst="rect">
            <a:avLst/>
          </a:prstGeom>
          <a:noFill/>
        </p:spPr>
        <p:txBody>
          <a:bodyPr wrap="square">
            <a:spAutoFit/>
          </a:bodyPr>
          <a:lstStyle/>
          <a:p>
            <a:pPr>
              <a:spcAft>
                <a:spcPts val="1200"/>
              </a:spcAft>
            </a:pPr>
            <a:r>
              <a:rPr sz="1400">
                <a:solidFill>
                  <a:srgbClr val="333333"/>
                </a:solidFill>
                <a:latin typeface="Calibri"/>
              </a:rPr>
              <a:t>•  22 standardized features contain multicollinearity (e.g. purchases vs. one-off/installment)</a:t>
            </a:r>
          </a:p>
          <a:p>
            <a:pPr>
              <a:spcAft>
                <a:spcPts val="1200"/>
              </a:spcAft>
            </a:pPr>
            <a:r>
              <a:rPr sz="1400">
                <a:solidFill>
                  <a:srgbClr val="333333"/>
                </a:solidFill>
                <a:latin typeface="Calibri"/>
              </a:rPr>
              <a:t>•  PCA: 9 components retain ~90% of total variance</a:t>
            </a:r>
          </a:p>
          <a:p>
            <a:pPr>
              <a:spcAft>
                <a:spcPts val="1200"/>
              </a:spcAft>
            </a:pPr>
            <a:r>
              <a:rPr sz="1400">
                <a:solidFill>
                  <a:srgbClr val="333333"/>
                </a:solidFill>
                <a:latin typeface="Calibri"/>
              </a:rPr>
              <a:t>•  Clustering is performed on these 9 PCA components — cleaner signal, less noise</a:t>
            </a:r>
          </a:p>
          <a:p>
            <a:pPr>
              <a:spcAft>
                <a:spcPts val="1200"/>
              </a:spcAft>
            </a:pPr>
            <a:r>
              <a:rPr sz="1400">
                <a:solidFill>
                  <a:srgbClr val="333333"/>
                </a:solidFill>
                <a:latin typeface="Calibri"/>
              </a:rPr>
              <a:t>•  t-SNE (2D) is used purely for visualization of cluster separation, not for clustering itself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Model Selection — K-Means Clustering</a:t>
            </a:r>
          </a:p>
        </p:txBody>
      </p:sp>
      <p:pic>
        <p:nvPicPr>
          <p:cNvPr id="3" name="Picture 2" descr="kmeans_selection.png"/>
          <p:cNvPicPr>
            <a:picLocks noChangeAspect="1"/>
          </p:cNvPicPr>
          <p:nvPr/>
        </p:nvPicPr>
        <p:blipFill>
          <a:blip r:embed="rId2"/>
          <a:stretch>
            <a:fillRect/>
          </a:stretch>
        </p:blipFill>
        <p:spPr>
          <a:xfrm>
            <a:off x="510313" y="1143000"/>
            <a:ext cx="10135053" cy="3566160"/>
          </a:xfrm>
          <a:prstGeom prst="rect">
            <a:avLst/>
          </a:prstGeom>
        </p:spPr>
      </p:pic>
      <p:sp>
        <p:nvSpPr>
          <p:cNvPr id="4" name="TextBox 3"/>
          <p:cNvSpPr txBox="1"/>
          <p:nvPr/>
        </p:nvSpPr>
        <p:spPr>
          <a:xfrm>
            <a:off x="457200" y="5074920"/>
            <a:ext cx="10241280" cy="1188720"/>
          </a:xfrm>
          <a:prstGeom prst="rect">
            <a:avLst/>
          </a:prstGeom>
          <a:noFill/>
        </p:spPr>
        <p:txBody>
          <a:bodyPr wrap="square">
            <a:spAutoFit/>
          </a:bodyPr>
          <a:lstStyle/>
          <a:p>
            <a:pPr algn="l">
              <a:lnSpc>
                <a:spcPct val="110000"/>
              </a:lnSpc>
            </a:pPr>
            <a:r>
              <a:rPr sz="1350" b="0" i="0">
                <a:solidFill>
                  <a:srgbClr val="333333"/>
                </a:solidFill>
                <a:latin typeface="Calibri"/>
              </a:rPr>
              <a:t>Silhouette score peaks at k=2, but a 2-segment split is too coarse for differentiated marketing or risk action. k=4 is the strongest silhouette among k≥3 solutions, aligns with the elbow curve, and yields interpretable, actionable segments — selected as the final business-facing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Model Selection — Agglomerative (Hierarchical) Clustering</a:t>
            </a:r>
          </a:p>
        </p:txBody>
      </p:sp>
      <p:pic>
        <p:nvPicPr>
          <p:cNvPr id="3" name="Picture 2" descr="dendrogram.png"/>
          <p:cNvPicPr>
            <a:picLocks noChangeAspect="1"/>
          </p:cNvPicPr>
          <p:nvPr/>
        </p:nvPicPr>
        <p:blipFill>
          <a:blip r:embed="rId2"/>
          <a:stretch>
            <a:fillRect/>
          </a:stretch>
        </p:blipFill>
        <p:spPr>
          <a:xfrm>
            <a:off x="626272" y="1143000"/>
            <a:ext cx="9903135" cy="4206240"/>
          </a:xfrm>
          <a:prstGeom prst="rect">
            <a:avLst/>
          </a:prstGeom>
        </p:spPr>
      </p:pic>
      <p:sp>
        <p:nvSpPr>
          <p:cNvPr id="4" name="TextBox 3"/>
          <p:cNvSpPr txBox="1"/>
          <p:nvPr/>
        </p:nvSpPr>
        <p:spPr>
          <a:xfrm>
            <a:off x="457200" y="5577840"/>
            <a:ext cx="10241280" cy="640080"/>
          </a:xfrm>
          <a:prstGeom prst="rect">
            <a:avLst/>
          </a:prstGeom>
          <a:noFill/>
        </p:spPr>
        <p:txBody>
          <a:bodyPr wrap="square">
            <a:spAutoFit/>
          </a:bodyPr>
          <a:lstStyle/>
          <a:p>
            <a:pPr algn="l">
              <a:lnSpc>
                <a:spcPct val="110000"/>
              </a:lnSpc>
            </a:pPr>
            <a:r>
              <a:rPr sz="1350" b="0" i="1">
                <a:solidFill>
                  <a:srgbClr val="44546A"/>
                </a:solidFill>
                <a:latin typeface="Calibri"/>
              </a:rPr>
              <a:t>Ward-linkage dendrogram (sampled 300 customers for legibility). k=4 is used to match K-Means for a fair, apples-to-apples comparison.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Comparative Analysis — K-Means vs. Agglomerative</a:t>
            </a:r>
          </a:p>
        </p:txBody>
      </p:sp>
      <p:sp>
        <p:nvSpPr>
          <p:cNvPr id="3" name="Rectangle 2"/>
          <p:cNvSpPr/>
          <p:nvPr/>
        </p:nvSpPr>
        <p:spPr>
          <a:xfrm>
            <a:off x="457200" y="1234440"/>
            <a:ext cx="2926080" cy="502920"/>
          </a:xfrm>
          <a:prstGeom prst="rect">
            <a:avLst/>
          </a:prstGeom>
          <a:solidFill>
            <a:srgbClr val="161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Calibri"/>
              </a:rPr>
              <a:t>Metric</a:t>
            </a:r>
          </a:p>
        </p:txBody>
      </p:sp>
      <p:sp>
        <p:nvSpPr>
          <p:cNvPr id="4" name="Rectangle 3"/>
          <p:cNvSpPr/>
          <p:nvPr/>
        </p:nvSpPr>
        <p:spPr>
          <a:xfrm>
            <a:off x="3383280" y="1234440"/>
            <a:ext cx="2468880" cy="502920"/>
          </a:xfrm>
          <a:prstGeom prst="rect">
            <a:avLst/>
          </a:prstGeom>
          <a:solidFill>
            <a:srgbClr val="161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K-Means (k=4)</a:t>
            </a:r>
          </a:p>
        </p:txBody>
      </p:sp>
      <p:sp>
        <p:nvSpPr>
          <p:cNvPr id="5" name="Rectangle 4"/>
          <p:cNvSpPr/>
          <p:nvPr/>
        </p:nvSpPr>
        <p:spPr>
          <a:xfrm>
            <a:off x="5852160" y="1234440"/>
            <a:ext cx="2468880" cy="502920"/>
          </a:xfrm>
          <a:prstGeom prst="rect">
            <a:avLst/>
          </a:prstGeom>
          <a:solidFill>
            <a:srgbClr val="161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Agglomerative (k=4)</a:t>
            </a:r>
          </a:p>
        </p:txBody>
      </p:sp>
      <p:sp>
        <p:nvSpPr>
          <p:cNvPr id="6" name="Rectangle 5"/>
          <p:cNvSpPr/>
          <p:nvPr/>
        </p:nvSpPr>
        <p:spPr>
          <a:xfrm>
            <a:off x="8321040" y="1234440"/>
            <a:ext cx="2377440" cy="502920"/>
          </a:xfrm>
          <a:prstGeom prst="rect">
            <a:avLst/>
          </a:prstGeom>
          <a:solidFill>
            <a:srgbClr val="161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Better</a:t>
            </a:r>
          </a:p>
        </p:txBody>
      </p:sp>
      <p:sp>
        <p:nvSpPr>
          <p:cNvPr id="7" name="Rectangle 6"/>
          <p:cNvSpPr/>
          <p:nvPr/>
        </p:nvSpPr>
        <p:spPr>
          <a:xfrm>
            <a:off x="457200" y="1737360"/>
            <a:ext cx="292608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333333"/>
                </a:solidFill>
                <a:latin typeface="Calibri"/>
              </a:rPr>
              <a:t>Silhouette Score ↑</a:t>
            </a:r>
          </a:p>
        </p:txBody>
      </p:sp>
      <p:sp>
        <p:nvSpPr>
          <p:cNvPr id="8" name="Rectangle 7"/>
          <p:cNvSpPr/>
          <p:nvPr/>
        </p:nvSpPr>
        <p:spPr>
          <a:xfrm>
            <a:off x="3383280" y="1737360"/>
            <a:ext cx="246888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333333"/>
                </a:solidFill>
                <a:latin typeface="Calibri"/>
              </a:rPr>
              <a:t>0.238</a:t>
            </a:r>
          </a:p>
        </p:txBody>
      </p:sp>
      <p:sp>
        <p:nvSpPr>
          <p:cNvPr id="9" name="Rectangle 8"/>
          <p:cNvSpPr/>
          <p:nvPr/>
        </p:nvSpPr>
        <p:spPr>
          <a:xfrm>
            <a:off x="5852160" y="1737360"/>
            <a:ext cx="246888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333333"/>
                </a:solidFill>
                <a:latin typeface="Calibri"/>
              </a:rPr>
              <a:t>0.194</a:t>
            </a:r>
          </a:p>
        </p:txBody>
      </p:sp>
      <p:sp>
        <p:nvSpPr>
          <p:cNvPr id="10" name="Rectangle 9"/>
          <p:cNvSpPr/>
          <p:nvPr/>
        </p:nvSpPr>
        <p:spPr>
          <a:xfrm>
            <a:off x="8321040" y="1737360"/>
            <a:ext cx="2377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61A3E"/>
                </a:solidFill>
                <a:latin typeface="Calibri"/>
              </a:rPr>
              <a:t>K-Means</a:t>
            </a:r>
          </a:p>
        </p:txBody>
      </p:sp>
      <p:sp>
        <p:nvSpPr>
          <p:cNvPr id="11" name="Rectangle 10"/>
          <p:cNvSpPr/>
          <p:nvPr/>
        </p:nvSpPr>
        <p:spPr>
          <a:xfrm>
            <a:off x="457200" y="2240280"/>
            <a:ext cx="2926080" cy="5029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333333"/>
                </a:solidFill>
                <a:latin typeface="Calibri"/>
              </a:rPr>
              <a:t>Calinski-Harabasz ↑</a:t>
            </a:r>
          </a:p>
        </p:txBody>
      </p:sp>
      <p:sp>
        <p:nvSpPr>
          <p:cNvPr id="12" name="Rectangle 11"/>
          <p:cNvSpPr/>
          <p:nvPr/>
        </p:nvSpPr>
        <p:spPr>
          <a:xfrm>
            <a:off x="3383280" y="2240280"/>
            <a:ext cx="2468880" cy="5029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333333"/>
                </a:solidFill>
                <a:latin typeface="Calibri"/>
              </a:rPr>
              <a:t>2,609</a:t>
            </a:r>
          </a:p>
        </p:txBody>
      </p:sp>
      <p:sp>
        <p:nvSpPr>
          <p:cNvPr id="13" name="Rectangle 12"/>
          <p:cNvSpPr/>
          <p:nvPr/>
        </p:nvSpPr>
        <p:spPr>
          <a:xfrm>
            <a:off x="5852160" y="2240280"/>
            <a:ext cx="2468880" cy="5029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333333"/>
                </a:solidFill>
                <a:latin typeface="Calibri"/>
              </a:rPr>
              <a:t>2,139</a:t>
            </a:r>
          </a:p>
        </p:txBody>
      </p:sp>
      <p:sp>
        <p:nvSpPr>
          <p:cNvPr id="14" name="Rectangle 13"/>
          <p:cNvSpPr/>
          <p:nvPr/>
        </p:nvSpPr>
        <p:spPr>
          <a:xfrm>
            <a:off x="8321040" y="2240280"/>
            <a:ext cx="2377440" cy="5029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61A3E"/>
                </a:solidFill>
                <a:latin typeface="Calibri"/>
              </a:rPr>
              <a:t>K-Means</a:t>
            </a:r>
          </a:p>
        </p:txBody>
      </p:sp>
      <p:sp>
        <p:nvSpPr>
          <p:cNvPr id="15" name="Rectangle 14"/>
          <p:cNvSpPr/>
          <p:nvPr/>
        </p:nvSpPr>
        <p:spPr>
          <a:xfrm>
            <a:off x="457200" y="2743200"/>
            <a:ext cx="292608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333333"/>
                </a:solidFill>
                <a:latin typeface="Calibri"/>
              </a:rPr>
              <a:t>Davies-Bouldin ↓</a:t>
            </a:r>
          </a:p>
        </p:txBody>
      </p:sp>
      <p:sp>
        <p:nvSpPr>
          <p:cNvPr id="16" name="Rectangle 15"/>
          <p:cNvSpPr/>
          <p:nvPr/>
        </p:nvSpPr>
        <p:spPr>
          <a:xfrm>
            <a:off x="3383280" y="2743200"/>
            <a:ext cx="246888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333333"/>
                </a:solidFill>
                <a:latin typeface="Calibri"/>
              </a:rPr>
              <a:t>1.617</a:t>
            </a:r>
          </a:p>
        </p:txBody>
      </p:sp>
      <p:sp>
        <p:nvSpPr>
          <p:cNvPr id="17" name="Rectangle 16"/>
          <p:cNvSpPr/>
          <p:nvPr/>
        </p:nvSpPr>
        <p:spPr>
          <a:xfrm>
            <a:off x="5852160" y="2743200"/>
            <a:ext cx="246888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333333"/>
                </a:solidFill>
                <a:latin typeface="Calibri"/>
              </a:rPr>
              <a:t>1.798</a:t>
            </a:r>
          </a:p>
        </p:txBody>
      </p:sp>
      <p:sp>
        <p:nvSpPr>
          <p:cNvPr id="18" name="Rectangle 17"/>
          <p:cNvSpPr/>
          <p:nvPr/>
        </p:nvSpPr>
        <p:spPr>
          <a:xfrm>
            <a:off x="8321040" y="2743200"/>
            <a:ext cx="2377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61A3E"/>
                </a:solidFill>
                <a:latin typeface="Calibri"/>
              </a:rPr>
              <a:t>K-Means</a:t>
            </a:r>
          </a:p>
        </p:txBody>
      </p:sp>
      <p:pic>
        <p:nvPicPr>
          <p:cNvPr id="19" name="Picture 18" descr="cluster_comparison.png"/>
          <p:cNvPicPr>
            <a:picLocks noChangeAspect="1"/>
          </p:cNvPicPr>
          <p:nvPr/>
        </p:nvPicPr>
        <p:blipFill>
          <a:blip r:embed="rId2"/>
          <a:stretch>
            <a:fillRect/>
          </a:stretch>
        </p:blipFill>
        <p:spPr>
          <a:xfrm>
            <a:off x="3657810" y="3474720"/>
            <a:ext cx="3840060" cy="32918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Customer Segment Profiles (K-Means, k=4)</a:t>
            </a:r>
          </a:p>
        </p:txBody>
      </p:sp>
      <p:pic>
        <p:nvPicPr>
          <p:cNvPr id="3" name="Picture 2" descr="cluster_profiles_bar.png"/>
          <p:cNvPicPr>
            <a:picLocks noChangeAspect="1"/>
          </p:cNvPicPr>
          <p:nvPr/>
        </p:nvPicPr>
        <p:blipFill>
          <a:blip r:embed="rId2"/>
          <a:stretch>
            <a:fillRect/>
          </a:stretch>
        </p:blipFill>
        <p:spPr>
          <a:xfrm>
            <a:off x="726440" y="1143000"/>
            <a:ext cx="9702800" cy="4114800"/>
          </a:xfrm>
          <a:prstGeom prst="rect">
            <a:avLst/>
          </a:prstGeom>
        </p:spPr>
      </p:pic>
      <p:sp>
        <p:nvSpPr>
          <p:cNvPr id="4" name="TextBox 3"/>
          <p:cNvSpPr txBox="1"/>
          <p:nvPr/>
        </p:nvSpPr>
        <p:spPr>
          <a:xfrm>
            <a:off x="457200" y="5486400"/>
            <a:ext cx="10241280" cy="731520"/>
          </a:xfrm>
          <a:prstGeom prst="rect">
            <a:avLst/>
          </a:prstGeom>
          <a:noFill/>
        </p:spPr>
        <p:txBody>
          <a:bodyPr wrap="square">
            <a:spAutoFit/>
          </a:bodyPr>
          <a:lstStyle/>
          <a:p>
            <a:pPr algn="l">
              <a:lnSpc>
                <a:spcPct val="110000"/>
              </a:lnSpc>
            </a:pPr>
            <a:r>
              <a:rPr sz="1300" b="0" i="1">
                <a:solidFill>
                  <a:srgbClr val="44546A"/>
                </a:solidFill>
                <a:latin typeface="Calibri"/>
              </a:rPr>
              <a:t>Standardized cluster means highlight which behaviors define each segment relative to the overall customer base.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Segment Personas</a:t>
            </a:r>
          </a:p>
        </p:txBody>
      </p:sp>
      <p:sp>
        <p:nvSpPr>
          <p:cNvPr id="3" name="Rounded Rectangle 2"/>
          <p:cNvSpPr/>
          <p:nvPr/>
        </p:nvSpPr>
        <p:spPr>
          <a:xfrm>
            <a:off x="457200" y="1188720"/>
            <a:ext cx="5074920" cy="233172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188720"/>
            <a:ext cx="109728" cy="2331720"/>
          </a:xfrm>
          <a:prstGeom prst="rect">
            <a:avLst/>
          </a:prstGeom>
          <a:solidFill>
            <a:srgbClr val="161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25880"/>
            <a:ext cx="3794760" cy="411480"/>
          </a:xfrm>
          <a:prstGeom prst="rect">
            <a:avLst/>
          </a:prstGeom>
          <a:noFill/>
        </p:spPr>
        <p:txBody>
          <a:bodyPr wrap="square">
            <a:spAutoFit/>
          </a:bodyPr>
          <a:lstStyle/>
          <a:p>
            <a:pPr algn="l">
              <a:lnSpc>
                <a:spcPct val="110000"/>
              </a:lnSpc>
            </a:pPr>
            <a:r>
              <a:rPr sz="1600" b="1" i="0">
                <a:solidFill>
                  <a:srgbClr val="161A3E"/>
                </a:solidFill>
                <a:latin typeface="Calibri"/>
              </a:rPr>
              <a:t>Revolving Big Spenders</a:t>
            </a:r>
          </a:p>
        </p:txBody>
      </p:sp>
      <p:sp>
        <p:nvSpPr>
          <p:cNvPr id="6" name="TextBox 5"/>
          <p:cNvSpPr txBox="1"/>
          <p:nvPr/>
        </p:nvSpPr>
        <p:spPr>
          <a:xfrm>
            <a:off x="4480560" y="1325880"/>
            <a:ext cx="868680" cy="411480"/>
          </a:xfrm>
          <a:prstGeom prst="rect">
            <a:avLst/>
          </a:prstGeom>
          <a:noFill/>
        </p:spPr>
        <p:txBody>
          <a:bodyPr wrap="square">
            <a:spAutoFit/>
          </a:bodyPr>
          <a:lstStyle/>
          <a:p>
            <a:pPr algn="r">
              <a:lnSpc>
                <a:spcPct val="110000"/>
              </a:lnSpc>
            </a:pPr>
            <a:r>
              <a:rPr sz="1800" b="1" i="0">
                <a:solidFill>
                  <a:srgbClr val="161A3E"/>
                </a:solidFill>
                <a:latin typeface="Calibri"/>
              </a:rPr>
              <a:t>19.5%</a:t>
            </a:r>
          </a:p>
        </p:txBody>
      </p:sp>
      <p:sp>
        <p:nvSpPr>
          <p:cNvPr id="7" name="TextBox 6"/>
          <p:cNvSpPr txBox="1"/>
          <p:nvPr/>
        </p:nvSpPr>
        <p:spPr>
          <a:xfrm>
            <a:off x="731520" y="1783080"/>
            <a:ext cx="4526280" cy="685800"/>
          </a:xfrm>
          <a:prstGeom prst="rect">
            <a:avLst/>
          </a:prstGeom>
          <a:noFill/>
        </p:spPr>
        <p:txBody>
          <a:bodyPr wrap="square">
            <a:spAutoFit/>
          </a:bodyPr>
          <a:lstStyle/>
          <a:p>
            <a:pPr algn="l">
              <a:lnSpc>
                <a:spcPct val="110000"/>
              </a:lnSpc>
            </a:pPr>
            <a:r>
              <a:rPr sz="1200" b="0" i="0">
                <a:solidFill>
                  <a:srgbClr val="333333"/>
                </a:solidFill>
                <a:latin typeface="Calibri"/>
              </a:rPr>
              <a:t>High balance &amp; cash advance, moderate purchases, ~0% pay in full</a:t>
            </a:r>
          </a:p>
        </p:txBody>
      </p:sp>
      <p:sp>
        <p:nvSpPr>
          <p:cNvPr id="8" name="TextBox 7"/>
          <p:cNvSpPr txBox="1"/>
          <p:nvPr/>
        </p:nvSpPr>
        <p:spPr>
          <a:xfrm>
            <a:off x="731520" y="2560320"/>
            <a:ext cx="4526280" cy="868680"/>
          </a:xfrm>
          <a:prstGeom prst="rect">
            <a:avLst/>
          </a:prstGeom>
          <a:noFill/>
        </p:spPr>
        <p:txBody>
          <a:bodyPr wrap="square">
            <a:spAutoFit/>
          </a:bodyPr>
          <a:lstStyle/>
          <a:p>
            <a:pPr algn="l">
              <a:lnSpc>
                <a:spcPct val="110000"/>
              </a:lnSpc>
            </a:pPr>
            <a:r>
              <a:rPr sz="1150" b="0" i="1">
                <a:solidFill>
                  <a:srgbClr val="44546A"/>
                </a:solidFill>
                <a:latin typeface="Calibri"/>
              </a:rPr>
              <a:t>Action: Highest credit-risk group — prioritize risk monitoring &amp; structured repayment plans</a:t>
            </a:r>
          </a:p>
        </p:txBody>
      </p:sp>
      <p:sp>
        <p:nvSpPr>
          <p:cNvPr id="9" name="Rounded Rectangle 8"/>
          <p:cNvSpPr/>
          <p:nvPr/>
        </p:nvSpPr>
        <p:spPr>
          <a:xfrm>
            <a:off x="5806440" y="1188720"/>
            <a:ext cx="5074920" cy="233172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06440" y="1188720"/>
            <a:ext cx="109728" cy="2331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1325880"/>
            <a:ext cx="3794760" cy="411480"/>
          </a:xfrm>
          <a:prstGeom prst="rect">
            <a:avLst/>
          </a:prstGeom>
          <a:noFill/>
        </p:spPr>
        <p:txBody>
          <a:bodyPr wrap="square">
            <a:spAutoFit/>
          </a:bodyPr>
          <a:lstStyle/>
          <a:p>
            <a:pPr algn="l">
              <a:lnSpc>
                <a:spcPct val="110000"/>
              </a:lnSpc>
            </a:pPr>
            <a:r>
              <a:rPr sz="1600" b="1" i="0">
                <a:solidFill>
                  <a:srgbClr val="4472C4"/>
                </a:solidFill>
                <a:latin typeface="Calibri"/>
              </a:rPr>
              <a:t>Cautious Low-Engagement</a:t>
            </a:r>
          </a:p>
        </p:txBody>
      </p:sp>
      <p:sp>
        <p:nvSpPr>
          <p:cNvPr id="12" name="TextBox 11"/>
          <p:cNvSpPr txBox="1"/>
          <p:nvPr/>
        </p:nvSpPr>
        <p:spPr>
          <a:xfrm>
            <a:off x="9829800" y="1325880"/>
            <a:ext cx="868680" cy="411480"/>
          </a:xfrm>
          <a:prstGeom prst="rect">
            <a:avLst/>
          </a:prstGeom>
          <a:noFill/>
        </p:spPr>
        <p:txBody>
          <a:bodyPr wrap="square">
            <a:spAutoFit/>
          </a:bodyPr>
          <a:lstStyle/>
          <a:p>
            <a:pPr algn="r">
              <a:lnSpc>
                <a:spcPct val="110000"/>
              </a:lnSpc>
            </a:pPr>
            <a:r>
              <a:rPr sz="1800" b="1" i="0">
                <a:solidFill>
                  <a:srgbClr val="4472C4"/>
                </a:solidFill>
                <a:latin typeface="Calibri"/>
              </a:rPr>
              <a:t>27.8%</a:t>
            </a:r>
          </a:p>
        </p:txBody>
      </p:sp>
      <p:sp>
        <p:nvSpPr>
          <p:cNvPr id="13" name="TextBox 12"/>
          <p:cNvSpPr txBox="1"/>
          <p:nvPr/>
        </p:nvSpPr>
        <p:spPr>
          <a:xfrm>
            <a:off x="6080760" y="1783080"/>
            <a:ext cx="4526280" cy="685800"/>
          </a:xfrm>
          <a:prstGeom prst="rect">
            <a:avLst/>
          </a:prstGeom>
          <a:noFill/>
        </p:spPr>
        <p:txBody>
          <a:bodyPr wrap="square">
            <a:spAutoFit/>
          </a:bodyPr>
          <a:lstStyle/>
          <a:p>
            <a:pPr algn="l">
              <a:lnSpc>
                <a:spcPct val="110000"/>
              </a:lnSpc>
            </a:pPr>
            <a:r>
              <a:rPr sz="1200" b="0" i="0">
                <a:solidFill>
                  <a:srgbClr val="333333"/>
                </a:solidFill>
                <a:latin typeface="Calibri"/>
              </a:rPr>
              <a:t>Low balance, low purchases, low cash advance, highest full-payment rate</a:t>
            </a:r>
          </a:p>
        </p:txBody>
      </p:sp>
      <p:sp>
        <p:nvSpPr>
          <p:cNvPr id="14" name="TextBox 13"/>
          <p:cNvSpPr txBox="1"/>
          <p:nvPr/>
        </p:nvSpPr>
        <p:spPr>
          <a:xfrm>
            <a:off x="6080760" y="2560320"/>
            <a:ext cx="4526280" cy="868680"/>
          </a:xfrm>
          <a:prstGeom prst="rect">
            <a:avLst/>
          </a:prstGeom>
          <a:noFill/>
        </p:spPr>
        <p:txBody>
          <a:bodyPr wrap="square">
            <a:spAutoFit/>
          </a:bodyPr>
          <a:lstStyle/>
          <a:p>
            <a:pPr algn="l">
              <a:lnSpc>
                <a:spcPct val="110000"/>
              </a:lnSpc>
            </a:pPr>
            <a:r>
              <a:rPr sz="1150" b="0" i="1">
                <a:solidFill>
                  <a:srgbClr val="44546A"/>
                </a:solidFill>
                <a:latin typeface="Calibri"/>
              </a:rPr>
              <a:t>Action: Under-utilizing their card — target with purchase incentives &amp; cashback offers</a:t>
            </a:r>
          </a:p>
        </p:txBody>
      </p:sp>
      <p:sp>
        <p:nvSpPr>
          <p:cNvPr id="15" name="Rounded Rectangle 14"/>
          <p:cNvSpPr/>
          <p:nvPr/>
        </p:nvSpPr>
        <p:spPr>
          <a:xfrm>
            <a:off x="457200" y="3794760"/>
            <a:ext cx="5074920" cy="233172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794760"/>
            <a:ext cx="109728" cy="233172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931920"/>
            <a:ext cx="3794760" cy="411480"/>
          </a:xfrm>
          <a:prstGeom prst="rect">
            <a:avLst/>
          </a:prstGeom>
          <a:noFill/>
        </p:spPr>
        <p:txBody>
          <a:bodyPr wrap="square">
            <a:spAutoFit/>
          </a:bodyPr>
          <a:lstStyle/>
          <a:p>
            <a:pPr algn="l">
              <a:lnSpc>
                <a:spcPct val="110000"/>
              </a:lnSpc>
            </a:pPr>
            <a:r>
              <a:rPr sz="1600" b="1" i="0">
                <a:solidFill>
                  <a:srgbClr val="ED7D31"/>
                </a:solidFill>
                <a:latin typeface="Calibri"/>
              </a:rPr>
              <a:t>Active Transactors</a:t>
            </a:r>
          </a:p>
        </p:txBody>
      </p:sp>
      <p:sp>
        <p:nvSpPr>
          <p:cNvPr id="18" name="TextBox 17"/>
          <p:cNvSpPr txBox="1"/>
          <p:nvPr/>
        </p:nvSpPr>
        <p:spPr>
          <a:xfrm>
            <a:off x="4480560" y="3931920"/>
            <a:ext cx="868680" cy="411480"/>
          </a:xfrm>
          <a:prstGeom prst="rect">
            <a:avLst/>
          </a:prstGeom>
          <a:noFill/>
        </p:spPr>
        <p:txBody>
          <a:bodyPr wrap="square">
            <a:spAutoFit/>
          </a:bodyPr>
          <a:lstStyle/>
          <a:p>
            <a:pPr algn="r">
              <a:lnSpc>
                <a:spcPct val="110000"/>
              </a:lnSpc>
            </a:pPr>
            <a:r>
              <a:rPr sz="1800" b="1" i="0">
                <a:solidFill>
                  <a:srgbClr val="ED7D31"/>
                </a:solidFill>
                <a:latin typeface="Calibri"/>
              </a:rPr>
              <a:t>27.3%</a:t>
            </a:r>
          </a:p>
        </p:txBody>
      </p:sp>
      <p:sp>
        <p:nvSpPr>
          <p:cNvPr id="19" name="TextBox 18"/>
          <p:cNvSpPr txBox="1"/>
          <p:nvPr/>
        </p:nvSpPr>
        <p:spPr>
          <a:xfrm>
            <a:off x="731520" y="4389120"/>
            <a:ext cx="4526280" cy="685800"/>
          </a:xfrm>
          <a:prstGeom prst="rect">
            <a:avLst/>
          </a:prstGeom>
          <a:noFill/>
        </p:spPr>
        <p:txBody>
          <a:bodyPr wrap="square">
            <a:spAutoFit/>
          </a:bodyPr>
          <a:lstStyle/>
          <a:p>
            <a:pPr algn="l">
              <a:lnSpc>
                <a:spcPct val="110000"/>
              </a:lnSpc>
            </a:pPr>
            <a:r>
              <a:rPr sz="1200" b="0" i="0">
                <a:solidFill>
                  <a:srgbClr val="333333"/>
                </a:solidFill>
                <a:latin typeface="Calibri"/>
              </a:rPr>
              <a:t>Highest purchases (one-off &amp; installment), high credit limit, low cash advance</a:t>
            </a:r>
          </a:p>
        </p:txBody>
      </p:sp>
      <p:sp>
        <p:nvSpPr>
          <p:cNvPr id="20" name="TextBox 19"/>
          <p:cNvSpPr txBox="1"/>
          <p:nvPr/>
        </p:nvSpPr>
        <p:spPr>
          <a:xfrm>
            <a:off x="731520" y="5166360"/>
            <a:ext cx="4526280" cy="868680"/>
          </a:xfrm>
          <a:prstGeom prst="rect">
            <a:avLst/>
          </a:prstGeom>
          <a:noFill/>
        </p:spPr>
        <p:txBody>
          <a:bodyPr wrap="square">
            <a:spAutoFit/>
          </a:bodyPr>
          <a:lstStyle/>
          <a:p>
            <a:pPr algn="l">
              <a:lnSpc>
                <a:spcPct val="110000"/>
              </a:lnSpc>
            </a:pPr>
            <a:r>
              <a:rPr sz="1150" b="0" i="1">
                <a:solidFill>
                  <a:srgbClr val="44546A"/>
                </a:solidFill>
                <a:latin typeface="Calibri"/>
              </a:rPr>
              <a:t>Action: Most profitable &amp; loyal — retain with premium rewards &amp; limit increases</a:t>
            </a:r>
          </a:p>
        </p:txBody>
      </p:sp>
      <p:sp>
        <p:nvSpPr>
          <p:cNvPr id="21" name="Rounded Rectangle 20"/>
          <p:cNvSpPr/>
          <p:nvPr/>
        </p:nvSpPr>
        <p:spPr>
          <a:xfrm>
            <a:off x="5806440" y="3794760"/>
            <a:ext cx="5074920" cy="233172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06440" y="3794760"/>
            <a:ext cx="109728" cy="233172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80760" y="3931920"/>
            <a:ext cx="3794760" cy="411480"/>
          </a:xfrm>
          <a:prstGeom prst="rect">
            <a:avLst/>
          </a:prstGeom>
          <a:noFill/>
        </p:spPr>
        <p:txBody>
          <a:bodyPr wrap="square">
            <a:spAutoFit/>
          </a:bodyPr>
          <a:lstStyle/>
          <a:p>
            <a:pPr algn="l">
              <a:lnSpc>
                <a:spcPct val="110000"/>
              </a:lnSpc>
            </a:pPr>
            <a:r>
              <a:rPr sz="1600" b="1" i="0">
                <a:solidFill>
                  <a:srgbClr val="FFC000"/>
                </a:solidFill>
                <a:latin typeface="Calibri"/>
              </a:rPr>
              <a:t>Cash-Advance Reliant</a:t>
            </a:r>
          </a:p>
        </p:txBody>
      </p:sp>
      <p:sp>
        <p:nvSpPr>
          <p:cNvPr id="24" name="TextBox 23"/>
          <p:cNvSpPr txBox="1"/>
          <p:nvPr/>
        </p:nvSpPr>
        <p:spPr>
          <a:xfrm>
            <a:off x="9829800" y="3931920"/>
            <a:ext cx="868680" cy="411480"/>
          </a:xfrm>
          <a:prstGeom prst="rect">
            <a:avLst/>
          </a:prstGeom>
          <a:noFill/>
        </p:spPr>
        <p:txBody>
          <a:bodyPr wrap="square">
            <a:spAutoFit/>
          </a:bodyPr>
          <a:lstStyle/>
          <a:p>
            <a:pPr algn="r">
              <a:lnSpc>
                <a:spcPct val="110000"/>
              </a:lnSpc>
            </a:pPr>
            <a:r>
              <a:rPr sz="1800" b="1" i="0">
                <a:solidFill>
                  <a:srgbClr val="FFC000"/>
                </a:solidFill>
                <a:latin typeface="Calibri"/>
              </a:rPr>
              <a:t>25.4%</a:t>
            </a:r>
          </a:p>
        </p:txBody>
      </p:sp>
      <p:sp>
        <p:nvSpPr>
          <p:cNvPr id="25" name="TextBox 24"/>
          <p:cNvSpPr txBox="1"/>
          <p:nvPr/>
        </p:nvSpPr>
        <p:spPr>
          <a:xfrm>
            <a:off x="6080760" y="4389120"/>
            <a:ext cx="4526280" cy="685800"/>
          </a:xfrm>
          <a:prstGeom prst="rect">
            <a:avLst/>
          </a:prstGeom>
          <a:noFill/>
        </p:spPr>
        <p:txBody>
          <a:bodyPr wrap="square">
            <a:spAutoFit/>
          </a:bodyPr>
          <a:lstStyle/>
          <a:p>
            <a:pPr algn="l">
              <a:lnSpc>
                <a:spcPct val="110000"/>
              </a:lnSpc>
            </a:pPr>
            <a:r>
              <a:rPr sz="1200" b="0" i="0">
                <a:solidFill>
                  <a:srgbClr val="333333"/>
                </a:solidFill>
                <a:latin typeface="Calibri"/>
              </a:rPr>
              <a:t>High balance, near-zero purchases, high cash advance, ~0% pay in full</a:t>
            </a:r>
          </a:p>
        </p:txBody>
      </p:sp>
      <p:sp>
        <p:nvSpPr>
          <p:cNvPr id="26" name="TextBox 25"/>
          <p:cNvSpPr txBox="1"/>
          <p:nvPr/>
        </p:nvSpPr>
        <p:spPr>
          <a:xfrm>
            <a:off x="6080760" y="5166360"/>
            <a:ext cx="4526280" cy="868680"/>
          </a:xfrm>
          <a:prstGeom prst="rect">
            <a:avLst/>
          </a:prstGeom>
          <a:noFill/>
        </p:spPr>
        <p:txBody>
          <a:bodyPr wrap="square">
            <a:spAutoFit/>
          </a:bodyPr>
          <a:lstStyle/>
          <a:p>
            <a:pPr algn="l">
              <a:lnSpc>
                <a:spcPct val="110000"/>
              </a:lnSpc>
            </a:pPr>
            <a:r>
              <a:rPr sz="1150" b="0" i="1">
                <a:solidFill>
                  <a:srgbClr val="44546A"/>
                </a:solidFill>
                <a:latin typeface="Calibri"/>
              </a:rPr>
              <a:t>Action: Card used mainly for cash withdrawals — flag for credit review &amp; financial-wellness outreach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Business Recommendations</a:t>
            </a:r>
          </a:p>
        </p:txBody>
      </p:sp>
      <p:sp>
        <p:nvSpPr>
          <p:cNvPr id="3" name="Content Placeholder 2"/>
          <p:cNvSpPr>
            <a:spLocks noGrp="1"/>
          </p:cNvSpPr>
          <p:nvPr>
            <p:ph idx="1"/>
          </p:nvPr>
        </p:nvSpPr>
        <p:spPr/>
        <p:txBody>
          <a:bodyPr wrap="square"/>
          <a:lstStyle/>
          <a:p>
            <a:pPr>
              <a:lnSpc>
                <a:spcPct val="115000"/>
              </a:lnSpc>
              <a:spcAft>
                <a:spcPts val="800"/>
              </a:spcAft>
            </a:pPr>
            <a:r>
              <a:rPr sz="1500" b="1">
                <a:solidFill>
                  <a:srgbClr val="333333"/>
                </a:solidFill>
                <a:latin typeface="Calibri"/>
              </a:rPr>
              <a:t>Risk Management</a:t>
            </a:r>
          </a:p>
          <a:p>
            <a:pPr lvl="1">
              <a:lnSpc>
                <a:spcPct val="115000"/>
              </a:lnSpc>
              <a:spcAft>
                <a:spcPts val="800"/>
              </a:spcAft>
            </a:pPr>
            <a:r>
              <a:rPr sz="1300" b="0">
                <a:solidFill>
                  <a:srgbClr val="333333"/>
                </a:solidFill>
                <a:latin typeface="Calibri"/>
              </a:rPr>
              <a:t>Prioritize Revolving Big Spenders &amp; Cash-Advance Reliant segments for credit review, exposure limits, and early-warning monitoring</a:t>
            </a:r>
          </a:p>
          <a:p>
            <a:pPr>
              <a:lnSpc>
                <a:spcPct val="115000"/>
              </a:lnSpc>
              <a:spcAft>
                <a:spcPts val="800"/>
              </a:spcAft>
            </a:pPr>
            <a:r>
              <a:rPr sz="1500" b="1">
                <a:solidFill>
                  <a:srgbClr val="333333"/>
                </a:solidFill>
                <a:latin typeface="Calibri"/>
              </a:rPr>
              <a:t>Targeted Marketing</a:t>
            </a:r>
          </a:p>
          <a:p>
            <a:pPr lvl="1">
              <a:lnSpc>
                <a:spcPct val="115000"/>
              </a:lnSpc>
              <a:spcAft>
                <a:spcPts val="800"/>
              </a:spcAft>
            </a:pPr>
            <a:r>
              <a:rPr sz="1300" b="0">
                <a:solidFill>
                  <a:srgbClr val="333333"/>
                </a:solidFill>
                <a:latin typeface="Calibri"/>
              </a:rPr>
              <a:t>Offer purchase incentives / cashback to Cautious Low-Engagement customers to raise card utilization</a:t>
            </a:r>
          </a:p>
          <a:p>
            <a:pPr lvl="1">
              <a:lnSpc>
                <a:spcPct val="115000"/>
              </a:lnSpc>
              <a:spcAft>
                <a:spcPts val="800"/>
              </a:spcAft>
            </a:pPr>
            <a:r>
              <a:rPr sz="1300" b="0">
                <a:solidFill>
                  <a:srgbClr val="333333"/>
                </a:solidFill>
                <a:latin typeface="Calibri"/>
              </a:rPr>
              <a:t>Reward Active Transactors with premium loyalty perks and credit limit increases to protect the most profitable segment</a:t>
            </a:r>
          </a:p>
          <a:p>
            <a:pPr>
              <a:lnSpc>
                <a:spcPct val="115000"/>
              </a:lnSpc>
              <a:spcAft>
                <a:spcPts val="800"/>
              </a:spcAft>
            </a:pPr>
            <a:r>
              <a:rPr sz="1500" b="1">
                <a:solidFill>
                  <a:srgbClr val="333333"/>
                </a:solidFill>
                <a:latin typeface="Calibri"/>
              </a:rPr>
              <a:t>Customer Relationship Management</a:t>
            </a:r>
          </a:p>
          <a:p>
            <a:pPr lvl="1">
              <a:lnSpc>
                <a:spcPct val="115000"/>
              </a:lnSpc>
              <a:spcAft>
                <a:spcPts val="800"/>
              </a:spcAft>
            </a:pPr>
            <a:r>
              <a:rPr sz="1300" b="0">
                <a:solidFill>
                  <a:srgbClr val="333333"/>
                </a:solidFill>
                <a:latin typeface="Calibri"/>
              </a:rPr>
              <a:t>Route Cash-Advance Reliant customers into financial-wellness / structured-repayment outreach programs</a:t>
            </a:r>
          </a:p>
          <a:p>
            <a:pPr lvl="1">
              <a:lnSpc>
                <a:spcPct val="115000"/>
              </a:lnSpc>
              <a:spcAft>
                <a:spcPts val="800"/>
              </a:spcAft>
            </a:pPr>
            <a:r>
              <a:rPr sz="1300" b="0">
                <a:solidFill>
                  <a:srgbClr val="333333"/>
                </a:solidFill>
                <a:latin typeface="Calibri"/>
              </a:rPr>
              <a:t>Re-score segments periodically (e.g. quarterly) as spending behavior evolves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3000">
                <a:solidFill>
                  <a:srgbClr val="161A3E"/>
                </a:solidFill>
                <a:latin typeface="Calibri"/>
              </a:rPr>
              <a:t>Conclusion &amp; Deliverables</a:t>
            </a:r>
          </a:p>
        </p:txBody>
      </p:sp>
      <p:sp>
        <p:nvSpPr>
          <p:cNvPr id="3" name="Content Placeholder 2"/>
          <p:cNvSpPr>
            <a:spLocks noGrp="1"/>
          </p:cNvSpPr>
          <p:nvPr>
            <p:ph idx="1"/>
          </p:nvPr>
        </p:nvSpPr>
        <p:spPr/>
        <p:txBody>
          <a:bodyPr wrap="square"/>
          <a:lstStyle/>
          <a:p>
            <a:pPr>
              <a:lnSpc>
                <a:spcPct val="115000"/>
              </a:lnSpc>
              <a:spcAft>
                <a:spcPts val="800"/>
              </a:spcAft>
            </a:pPr>
            <a:r>
              <a:rPr sz="1500" b="1">
                <a:solidFill>
                  <a:srgbClr val="333333"/>
                </a:solidFill>
                <a:latin typeface="Calibri"/>
              </a:rPr>
              <a:t>K-Means (k=4) selected as the final model</a:t>
            </a:r>
          </a:p>
          <a:p>
            <a:pPr lvl="1">
              <a:lnSpc>
                <a:spcPct val="115000"/>
              </a:lnSpc>
              <a:spcAft>
                <a:spcPts val="800"/>
              </a:spcAft>
            </a:pPr>
            <a:r>
              <a:rPr sz="1300" b="0">
                <a:solidFill>
                  <a:srgbClr val="333333"/>
                </a:solidFill>
                <a:latin typeface="Calibri"/>
              </a:rPr>
              <a:t>Higher Silhouette, Calinski-Harabasz, and lower Davies-Bouldin than Agglomerative; far more scalable for production use</a:t>
            </a:r>
          </a:p>
          <a:p>
            <a:pPr>
              <a:lnSpc>
                <a:spcPct val="115000"/>
              </a:lnSpc>
              <a:spcAft>
                <a:spcPts val="800"/>
              </a:spcAft>
            </a:pPr>
            <a:r>
              <a:rPr sz="1500" b="1">
                <a:solidFill>
                  <a:srgbClr val="333333"/>
                </a:solidFill>
                <a:latin typeface="Calibri"/>
              </a:rPr>
              <a:t>Four actionable, balanced segments identified (19–28% of customers each)</a:t>
            </a:r>
          </a:p>
          <a:p>
            <a:pPr>
              <a:lnSpc>
                <a:spcPct val="115000"/>
              </a:lnSpc>
              <a:spcAft>
                <a:spcPts val="800"/>
              </a:spcAft>
            </a:pPr>
            <a:r>
              <a:rPr sz="1500" b="1">
                <a:solidFill>
                  <a:srgbClr val="333333"/>
                </a:solidFill>
                <a:latin typeface="Calibri"/>
              </a:rPr>
              <a:t>Deliverables submitted:</a:t>
            </a:r>
          </a:p>
          <a:p>
            <a:pPr lvl="1">
              <a:lnSpc>
                <a:spcPct val="115000"/>
              </a:lnSpc>
              <a:spcAft>
                <a:spcPts val="800"/>
              </a:spcAft>
            </a:pPr>
            <a:r>
              <a:rPr sz="1300" b="0">
                <a:solidFill>
                  <a:srgbClr val="333333"/>
                </a:solidFill>
                <a:latin typeface="Calibri"/>
              </a:rPr>
              <a:t>Jupyter notebook — full EDA, preprocessing, PCA/t-SNE, clustering, evaluation</a:t>
            </a:r>
          </a:p>
          <a:p>
            <a:pPr lvl="1">
              <a:lnSpc>
                <a:spcPct val="115000"/>
              </a:lnSpc>
              <a:spcAft>
                <a:spcPts val="800"/>
              </a:spcAft>
            </a:pPr>
            <a:r>
              <a:rPr sz="1300" b="0">
                <a:solidFill>
                  <a:srgbClr val="333333"/>
                </a:solidFill>
                <a:latin typeface="Calibri"/>
              </a:rPr>
              <a:t>This presentation — comparative analysis &amp; business recommendations</a:t>
            </a:r>
          </a:p>
          <a:p>
            <a:pPr lvl="1">
              <a:lnSpc>
                <a:spcPct val="115000"/>
              </a:lnSpc>
              <a:spcAft>
                <a:spcPts val="800"/>
              </a:spcAft>
            </a:pPr>
            <a:r>
              <a:rPr sz="1300" b="0">
                <a:solidFill>
                  <a:srgbClr val="333333"/>
                </a:solidFill>
                <a:latin typeface="Calibri"/>
              </a:rPr>
              <a:t>Interactive dashboard — explore segments and their characteristics</a:t>
            </a:r>
          </a:p>
        </p:txBody>
      </p:sp>
    </p:spTree>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6896</TotalTime>
  <Words>30</Words>
  <Application>Microsoft Office PowerPoint</Application>
  <PresentationFormat>Widescreen</PresentationFormat>
  <Paragraphs>13</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BIA Template</vt:lpstr>
      <vt:lpstr>PowerPoint Presentation</vt:lpstr>
      <vt:lpstr>Agenda</vt:lpstr>
      <vt:lpstr>Title</vt:lpstr>
      <vt:lpstr>PowerPoint Presentation</vt:lpstr>
      <vt:lpstr>PowerPoint Presentation</vt:lpstr>
      <vt:lpstr>Title</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Suraj Chopade</cp:lastModifiedBy>
  <cp:revision>2254</cp:revision>
  <dcterms:created xsi:type="dcterms:W3CDTF">2020-12-23T13:36:00Z</dcterms:created>
  <dcterms:modified xsi:type="dcterms:W3CDTF">2026-07-05T09:35:44Z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